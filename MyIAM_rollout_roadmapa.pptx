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Prerequisites cleared (5): include Security &amp; Infra Review, Quality &amp; Eco Design, Data Officer Validation (add the remaining two).
DST gates to clear (6 key reports): include UX &amp; Performance, Automation &amp; Code Quality, Chemarx &amp; LPAC Roles (add the remaining three).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tested end-to-end · canary window = 2.5wk (Internal 1wk + Pilot 1.5wk)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762756" y="914400"/>
            <a:ext cx="1313688" cy="640080"/>
          </a:xfrm>
          <a:prstGeom prst="rect">
            <a:avLst/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103876" y="914400"/>
            <a:ext cx="1313688" cy="640080"/>
          </a:xfrm>
          <a:prstGeom prst="rect">
            <a:avLst/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 '26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Gates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44996" y="914400"/>
            <a:ext cx="1313688" cy="640080"/>
          </a:xfrm>
          <a:prstGeom prst="rect">
            <a:avLst/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'27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86116" y="914400"/>
            <a:ext cx="1313688" cy="640080"/>
          </a:xfrm>
          <a:prstGeom prst="rect">
            <a:avLst/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27236" y="914400"/>
            <a:ext cx="1313688" cy="640080"/>
          </a:xfrm>
          <a:prstGeom prst="rect">
            <a:avLst/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'27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468356" y="914400"/>
            <a:ext cx="1313688" cy="640080"/>
          </a:xfrm>
          <a:prstGeom prst="rect">
            <a:avLst/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3200400" cy="804672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73152" cy="804672"/>
          </a:xfrm>
          <a:prstGeom prst="rect">
            <a:avLst/>
          </a:prstGeom>
          <a:solidFill>
            <a:srgbClr val="7A2A2A"/>
          </a:solidFill>
          <a:ln w="12700">
            <a:solidFill>
              <a:srgbClr val="7A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7452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Password Reset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Solution → MyPassword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3200400" cy="804672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70632"/>
            <a:ext cx="73152" cy="80467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70632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Solution (Solutions + Context)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Password Reset → no legacy app to retire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66744"/>
            <a:ext cx="3200400" cy="804672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66744"/>
            <a:ext cx="73152" cy="804672"/>
          </a:xfrm>
          <a:prstGeom prst="rect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6674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Accounts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once Solution clears its pilot gate → retires MyAccount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562856"/>
            <a:ext cx="3200400" cy="804672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562856"/>
            <a:ext cx="73152" cy="804672"/>
          </a:xfrm>
          <a:prstGeom prst="rect">
            <a:avLst/>
          </a:prstGeom>
          <a:solidFill>
            <a:srgbClr val="4B2A8C"/>
          </a:solidFill>
          <a:ln w="12700">
            <a:solidFill>
              <a:srgbClr val="4B2A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56285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Groups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legacy app to retire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5458968"/>
            <a:ext cx="3200400" cy="804672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458968"/>
            <a:ext cx="73152" cy="804672"/>
          </a:xfrm>
          <a:prstGeom prst="rect">
            <a:avLst/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45896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Access Control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validated Groups data → hard floor: 3wk pilot-to-ramp → retires MyAccess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22192" y="1874520"/>
            <a:ext cx="1194816" cy="2103120"/>
          </a:xfrm>
          <a:prstGeom prst="rect">
            <a:avLst/>
          </a:prstGeom>
          <a:solidFill>
            <a:srgbClr val="E6F2E9"/>
          </a:solidFill>
          <a:ln w="12700">
            <a:solidFill>
              <a:srgbClr val="E6F2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22192" y="1874520"/>
            <a:ext cx="1194816" cy="64008"/>
          </a:xfrm>
          <a:prstGeom prst="rect">
            <a:avLst/>
          </a:prstGeom>
          <a:solidFill>
            <a:srgbClr val="1E6B34"/>
          </a:solidFill>
          <a:ln w="12700">
            <a:solidFill>
              <a:srgbClr val="1E6B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13632" y="2103120"/>
            <a:ext cx="457200" cy="457200"/>
          </a:xfrm>
          <a:prstGeom prst="ellipse">
            <a:avLst/>
          </a:prstGeom>
          <a:solidFill>
            <a:srgbClr val="1E6B34"/>
          </a:solidFill>
          <a:ln w="12700">
            <a:solidFill>
              <a:srgbClr val="1E6B34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2194560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4443984" y="2057400"/>
            <a:ext cx="509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9" name="Text 26"/>
          <p:cNvSpPr txBox="1"/>
          <p:nvPr/>
        </p:nvSpPr>
        <p:spPr>
          <a:xfrm>
            <a:off x="3913632" y="2715768"/>
            <a:ext cx="1011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cleared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913632" y="3246120"/>
            <a:ext cx="1011936" cy="0"/>
          </a:xfrm>
          <a:prstGeom prst="line">
            <a:avLst/>
          </a:prstGeom>
          <a:noFill/>
          <a:ln w="9525">
            <a:solidFill>
              <a:srgbClr val="1E6B34">
                <a:alpha val="5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13632" y="34107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6B34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784" y="3483864"/>
            <a:ext cx="164592" cy="164592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4270248" y="34107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6B34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483864"/>
            <a:ext cx="164592" cy="164592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4626864" y="34107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6B34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483864"/>
            <a:ext cx="164592" cy="164592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5163312" y="1874520"/>
            <a:ext cx="1194816" cy="210312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163312" y="1874520"/>
            <a:ext cx="1194816" cy="64008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254752" y="2103120"/>
            <a:ext cx="457200" cy="457200"/>
          </a:xfrm>
          <a:prstGeom prst="ellipse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192" y="2194560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785104" y="2057400"/>
            <a:ext cx="509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42" name="Text 35"/>
          <p:cNvSpPr txBox="1"/>
          <p:nvPr/>
        </p:nvSpPr>
        <p:spPr>
          <a:xfrm>
            <a:off x="5254752" y="2715768"/>
            <a:ext cx="1011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gates to clear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5254752" y="3246120"/>
            <a:ext cx="1011936" cy="0"/>
          </a:xfrm>
          <a:prstGeom prst="line">
            <a:avLst/>
          </a:prstGeom>
          <a:noFill/>
          <a:ln w="9525">
            <a:solidFill>
              <a:srgbClr val="1B2559">
                <a:alpha val="5000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254752" y="34107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559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904" y="3483864"/>
            <a:ext cx="164592" cy="164592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5611368" y="34107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559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520" y="3483864"/>
            <a:ext cx="164592" cy="164592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5967984" y="34107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559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1136" y="3483864"/>
            <a:ext cx="164592" cy="164592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7772400" y="1627632"/>
            <a:ext cx="0" cy="4663440"/>
          </a:xfrm>
          <a:prstGeom prst="line">
            <a:avLst/>
          </a:prstGeom>
          <a:noFill/>
          <a:ln w="19050">
            <a:solidFill>
              <a:srgbClr val="222222"/>
            </a:solidFill>
            <a:prstDash val="dash"/>
          </a:ln>
        </p:spPr>
      </p:sp>
      <p:sp>
        <p:nvSpPr>
          <p:cNvPr id="51" name="Text 41"/>
          <p:cNvSpPr txBox="1"/>
          <p:nvPr/>
        </p:nvSpPr>
        <p:spPr>
          <a:xfrm>
            <a:off x="7818120" y="16093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Prerequisite complete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8119872" y="1892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8119872" y="2112264"/>
            <a:ext cx="301752" cy="329184"/>
          </a:xfrm>
          <a:prstGeom prst="rect">
            <a:avLst/>
          </a:prstGeom>
          <a:solidFill>
            <a:srgbClr val="7A2A2A"/>
          </a:solidFill>
          <a:ln w="12700">
            <a:solidFill>
              <a:srgbClr val="7A2A2A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8119872" y="2112264"/>
            <a:ext cx="3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700" dirty="0"/>
          </a:p>
        </p:txBody>
      </p:sp>
      <p:sp>
        <p:nvSpPr>
          <p:cNvPr id="55" name="Shape 45"/>
          <p:cNvSpPr/>
          <p:nvPr/>
        </p:nvSpPr>
        <p:spPr>
          <a:xfrm>
            <a:off x="8421624" y="2112264"/>
            <a:ext cx="1673352" cy="329184"/>
          </a:xfrm>
          <a:prstGeom prst="rect">
            <a:avLst/>
          </a:prstGeom>
          <a:solidFill>
            <a:srgbClr val="E8CFCB"/>
          </a:solidFill>
          <a:ln w="12700">
            <a:solidFill>
              <a:srgbClr val="E8CFCB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8421624" y="2112264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◇ → Ramp 25/50/75/100%</a:t>
            </a:r>
            <a:endParaRPr lang="en-US" sz="800" dirty="0"/>
          </a:p>
        </p:txBody>
      </p:sp>
      <p:sp>
        <p:nvSpPr>
          <p:cNvPr id="57" name="Shape 47"/>
          <p:cNvSpPr/>
          <p:nvPr/>
        </p:nvSpPr>
        <p:spPr>
          <a:xfrm>
            <a:off x="10140696" y="2185416"/>
            <a:ext cx="182880" cy="182880"/>
          </a:xfrm>
          <a:prstGeom prst="ellipse">
            <a:avLst/>
          </a:prstGeom>
          <a:solidFill>
            <a:srgbClr val="2E6B3A"/>
          </a:solidFill>
          <a:ln w="12700">
            <a:solidFill>
              <a:srgbClr val="2E6B3A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9729216" y="2478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– 7wk mark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8092440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 → starts Accounts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8092440" y="3008376"/>
            <a:ext cx="301752" cy="32918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8092440" y="3008376"/>
            <a:ext cx="3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700" dirty="0"/>
          </a:p>
        </p:txBody>
      </p:sp>
      <p:sp>
        <p:nvSpPr>
          <p:cNvPr id="62" name="Shape 52"/>
          <p:cNvSpPr/>
          <p:nvPr/>
        </p:nvSpPr>
        <p:spPr>
          <a:xfrm>
            <a:off x="8394192" y="3008376"/>
            <a:ext cx="1664208" cy="329184"/>
          </a:xfrm>
          <a:prstGeom prst="rect">
            <a:avLst/>
          </a:prstGeom>
          <a:solidFill>
            <a:srgbClr val="C9E1E8"/>
          </a:solidFill>
          <a:ln w="12700">
            <a:solidFill>
              <a:srgbClr val="C9E1E8"/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8394192" y="300837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◇ → Ramp 25/50/75/100%</a:t>
            </a:r>
            <a:endParaRPr lang="en-US" sz="800" dirty="0"/>
          </a:p>
        </p:txBody>
      </p:sp>
      <p:sp>
        <p:nvSpPr>
          <p:cNvPr id="64" name="Shape 54"/>
          <p:cNvSpPr/>
          <p:nvPr/>
        </p:nvSpPr>
        <p:spPr>
          <a:xfrm>
            <a:off x="10104120" y="3081528"/>
            <a:ext cx="182880" cy="182880"/>
          </a:xfrm>
          <a:prstGeom prst="ellipse">
            <a:avLst/>
          </a:prstGeom>
          <a:solidFill>
            <a:srgbClr val="2E6B3A"/>
          </a:solidFill>
          <a:ln w="12700">
            <a:solidFill>
              <a:srgbClr val="2E6B3A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9692640" y="3374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– 7wk mark</a:t>
            </a:r>
            <a:endParaRPr lang="en-US" sz="900" dirty="0"/>
          </a:p>
        </p:txBody>
      </p:sp>
      <p:sp>
        <p:nvSpPr>
          <p:cNvPr id="66" name="Text 56"/>
          <p:cNvSpPr txBox="1"/>
          <p:nvPr/>
        </p:nvSpPr>
        <p:spPr>
          <a:xfrm>
            <a:off x="8860536" y="3685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 → starts Groups</a:t>
            </a:r>
            <a:endParaRPr lang="en-US" sz="900" dirty="0"/>
          </a:p>
        </p:txBody>
      </p:sp>
      <p:sp>
        <p:nvSpPr>
          <p:cNvPr id="67" name="Shape 57"/>
          <p:cNvSpPr/>
          <p:nvPr/>
        </p:nvSpPr>
        <p:spPr>
          <a:xfrm>
            <a:off x="8860536" y="3904488"/>
            <a:ext cx="301752" cy="329184"/>
          </a:xfrm>
          <a:prstGeom prst="rect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8860536" y="3904488"/>
            <a:ext cx="3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700" dirty="0"/>
          </a:p>
        </p:txBody>
      </p:sp>
      <p:sp>
        <p:nvSpPr>
          <p:cNvPr id="69" name="Shape 59"/>
          <p:cNvSpPr/>
          <p:nvPr/>
        </p:nvSpPr>
        <p:spPr>
          <a:xfrm>
            <a:off x="9162288" y="3904488"/>
            <a:ext cx="1627632" cy="329184"/>
          </a:xfrm>
          <a:prstGeom prst="rect">
            <a:avLst/>
          </a:prstGeom>
          <a:solidFill>
            <a:srgbClr val="F4C9A8"/>
          </a:solidFill>
          <a:ln w="12700">
            <a:solidFill>
              <a:srgbClr val="F4C9A8"/>
            </a:solidFill>
            <a:prstDash val="solid"/>
          </a:ln>
        </p:spPr>
      </p:sp>
      <p:sp>
        <p:nvSpPr>
          <p:cNvPr id="70" name="Text 60"/>
          <p:cNvSpPr txBox="1"/>
          <p:nvPr/>
        </p:nvSpPr>
        <p:spPr>
          <a:xfrm>
            <a:off x="9162288" y="390448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◇ → Ramp 25/50/75/100%</a:t>
            </a:r>
            <a:endParaRPr lang="en-US" sz="800" dirty="0"/>
          </a:p>
        </p:txBody>
      </p:sp>
      <p:sp>
        <p:nvSpPr>
          <p:cNvPr id="71" name="Shape 61"/>
          <p:cNvSpPr/>
          <p:nvPr/>
        </p:nvSpPr>
        <p:spPr>
          <a:xfrm>
            <a:off x="10835640" y="3977640"/>
            <a:ext cx="182880" cy="182880"/>
          </a:xfrm>
          <a:prstGeom prst="ellipse">
            <a:avLst/>
          </a:prstGeom>
          <a:solidFill>
            <a:srgbClr val="2E6B3A"/>
          </a:solidFill>
          <a:ln w="12700">
            <a:solidFill>
              <a:srgbClr val="2E6B3A"/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10424160" y="4270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– 9wk mark</a:t>
            </a:r>
            <a:endParaRPr lang="en-US" sz="900" dirty="0"/>
          </a:p>
        </p:txBody>
      </p:sp>
      <p:sp>
        <p:nvSpPr>
          <p:cNvPr id="73" name="Text 63"/>
          <p:cNvSpPr txBox="1"/>
          <p:nvPr/>
        </p:nvSpPr>
        <p:spPr>
          <a:xfrm>
            <a:off x="9601200" y="4581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 → starts Access</a:t>
            </a:r>
            <a:endParaRPr lang="en-US" sz="900" dirty="0"/>
          </a:p>
        </p:txBody>
      </p:sp>
      <p:sp>
        <p:nvSpPr>
          <p:cNvPr id="74" name="Shape 64"/>
          <p:cNvSpPr/>
          <p:nvPr/>
        </p:nvSpPr>
        <p:spPr>
          <a:xfrm>
            <a:off x="9601200" y="4800600"/>
            <a:ext cx="301752" cy="329184"/>
          </a:xfrm>
          <a:prstGeom prst="rect">
            <a:avLst/>
          </a:prstGeom>
          <a:solidFill>
            <a:srgbClr val="4B2A8C"/>
          </a:solidFill>
          <a:ln w="12700">
            <a:solidFill>
              <a:srgbClr val="4B2A8C"/>
            </a:solidFill>
            <a:prstDash val="solid"/>
          </a:ln>
        </p:spPr>
      </p:sp>
      <p:sp>
        <p:nvSpPr>
          <p:cNvPr id="75" name="Text 65"/>
          <p:cNvSpPr txBox="1"/>
          <p:nvPr/>
        </p:nvSpPr>
        <p:spPr>
          <a:xfrm>
            <a:off x="9601200" y="4800600"/>
            <a:ext cx="3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700" dirty="0"/>
          </a:p>
        </p:txBody>
      </p:sp>
      <p:sp>
        <p:nvSpPr>
          <p:cNvPr id="76" name="Shape 66"/>
          <p:cNvSpPr/>
          <p:nvPr/>
        </p:nvSpPr>
        <p:spPr>
          <a:xfrm>
            <a:off x="9902952" y="4800600"/>
            <a:ext cx="1618488" cy="329184"/>
          </a:xfrm>
          <a:prstGeom prst="rect">
            <a:avLst/>
          </a:prstGeom>
          <a:solidFill>
            <a:srgbClr val="D4CCEA"/>
          </a:solidFill>
          <a:ln w="12700">
            <a:solidFill>
              <a:srgbClr val="D4CCEA"/>
            </a:solidFill>
            <a:prstDash val="solid"/>
          </a:ln>
        </p:spPr>
      </p:sp>
      <p:sp>
        <p:nvSpPr>
          <p:cNvPr id="77" name="Text 67"/>
          <p:cNvSpPr txBox="1"/>
          <p:nvPr/>
        </p:nvSpPr>
        <p:spPr>
          <a:xfrm>
            <a:off x="9902952" y="4800600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◇ → Ramp 25/50/75/100%</a:t>
            </a:r>
            <a:endParaRPr lang="en-US" sz="800" dirty="0"/>
          </a:p>
        </p:txBody>
      </p:sp>
      <p:sp>
        <p:nvSpPr>
          <p:cNvPr id="78" name="Shape 68"/>
          <p:cNvSpPr/>
          <p:nvPr/>
        </p:nvSpPr>
        <p:spPr>
          <a:xfrm>
            <a:off x="11567160" y="4873752"/>
            <a:ext cx="182880" cy="182880"/>
          </a:xfrm>
          <a:prstGeom prst="ellipse">
            <a:avLst/>
          </a:prstGeom>
          <a:solidFill>
            <a:srgbClr val="2E6B3A"/>
          </a:solidFill>
          <a:ln w="12700">
            <a:solidFill>
              <a:srgbClr val="2E6B3A"/>
            </a:solidFill>
            <a:prstDash val="solid"/>
          </a:ln>
        </p:spPr>
      </p:sp>
      <p:sp>
        <p:nvSpPr>
          <p:cNvPr id="79" name="Text 69"/>
          <p:cNvSpPr txBox="1"/>
          <p:nvPr/>
        </p:nvSpPr>
        <p:spPr>
          <a:xfrm>
            <a:off x="11155680" y="5166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</a:t>
            </a:r>
            <a:endParaRPr lang="en-US" sz="900" dirty="0"/>
          </a:p>
        </p:txBody>
      </p:sp>
      <p:sp>
        <p:nvSpPr>
          <p:cNvPr id="80" name="Shape 70"/>
          <p:cNvSpPr/>
          <p:nvPr/>
        </p:nvSpPr>
        <p:spPr>
          <a:xfrm>
            <a:off x="11018520" y="5696712"/>
            <a:ext cx="301752" cy="329184"/>
          </a:xfrm>
          <a:prstGeom prst="rect">
            <a:avLst/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81" name="Text 71"/>
          <p:cNvSpPr txBox="1"/>
          <p:nvPr/>
        </p:nvSpPr>
        <p:spPr>
          <a:xfrm>
            <a:off x="11018520" y="5696712"/>
            <a:ext cx="3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700" dirty="0"/>
          </a:p>
        </p:txBody>
      </p:sp>
      <p:sp>
        <p:nvSpPr>
          <p:cNvPr id="82" name="Shape 72"/>
          <p:cNvSpPr/>
          <p:nvPr/>
        </p:nvSpPr>
        <p:spPr>
          <a:xfrm>
            <a:off x="11320272" y="5696712"/>
            <a:ext cx="201168" cy="329184"/>
          </a:xfrm>
          <a:prstGeom prst="rect">
            <a:avLst/>
          </a:prstGeom>
          <a:solidFill>
            <a:srgbClr val="E0C9C4"/>
          </a:solidFill>
          <a:ln w="12700">
            <a:solidFill>
              <a:srgbClr val="E0C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